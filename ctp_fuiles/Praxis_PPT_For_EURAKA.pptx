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_rels/theme1.xml.rels" ContentType="application/vnd.openxmlformats-package.relationships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27.png" ContentType="image/png"/>
  <Override PartName="/ppt/media/image26.svg" ContentType="image/svg"/>
  <Override PartName="/ppt/media/image25.png" ContentType="image/png"/>
  <Override PartName="/ppt/media/image23.png" ContentType="image/png"/>
  <Override PartName="/ppt/media/image21.png" ContentType="image/png"/>
  <Override PartName="/ppt/media/image6.jpeg" ContentType="image/jpeg"/>
  <Override PartName="/ppt/media/image20.png" ContentType="image/png"/>
  <Override PartName="/ppt/media/image31.svg" ContentType="image/svg"/>
  <Override PartName="/ppt/media/image8.png" ContentType="image/png"/>
  <Override PartName="/ppt/media/image28.svg" ContentType="image/svg"/>
  <Override PartName="/ppt/media/image32.jpeg" ContentType="image/jpeg"/>
  <Override PartName="/ppt/media/image12.png" ContentType="image/png"/>
  <Override PartName="/ppt/media/image9.svg" ContentType="image/svg"/>
  <Override PartName="/ppt/media/image13.svg" ContentType="image/svg"/>
  <Override PartName="/ppt/media/image34.jpeg" ContentType="image/jpeg"/>
  <Override PartName="/ppt/media/image11.svg" ContentType="image/svg"/>
  <Override PartName="/ppt/media/image30.png" ContentType="image/png"/>
  <Override PartName="/ppt/media/image33.png" ContentType="image/png"/>
  <Override PartName="/ppt/media/image14.png" ContentType="image/png"/>
  <Override PartName="/ppt/media/image4.png" ContentType="image/png"/>
  <Override PartName="/ppt/media/image5.png" ContentType="image/png"/>
  <Override PartName="/ppt/media/image24.svg" ContentType="image/svg"/>
  <Override PartName="/ppt/media/image2.png" ContentType="image/png"/>
  <Override PartName="/ppt/media/image3.png" ContentType="image/png"/>
  <Override PartName="/ppt/media/image22.svg" ContentType="image/svg"/>
  <Override PartName="/ppt/media/image10.png" ContentType="image/png"/>
  <Override PartName="/ppt/media/image1.jpeg" ContentType="image/jpeg"/>
  <Override PartName="/ppt/media/image7.jpeg" ContentType="image/jpeg"/>
  <Override PartName="/ppt/media/image29.jpeg" ContentType="image/jpeg"/>
  <Override PartName="/ppt/media/image15.svg" ContentType="image/svg"/>
  <Override PartName="/ppt/media/image16.png" ContentType="image/png"/>
  <Override PartName="/ppt/media/image17.svg" ContentType="image/svg"/>
  <Override PartName="/ppt/media/image18.jpeg" ContentType="image/jpeg"/>
  <Override PartName="/ppt/media/image1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8836E1-F87E-485B-912A-0BBE1CA743C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083C6A0F-606E-49EC-8267-44DF3E7ED5C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EA79080-4D42-4B47-8D56-9A4F676CFF03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CDB7554-71E0-4CCE-B736-4BC5F86457C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A0A5ED4-D3AD-4468-AC5C-AE63AB77C0E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FC39CA41-3EAA-4B1C-B430-80AF893F06C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2962454-943E-4DF4-8E10-ED66B28A96F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911BDEA5-88FB-4E24-8C8B-5952D1CBCD1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210256D-CBAF-4B82-B16C-D6C6EE6D2B2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4285137A-50CE-4BEA-9948-DDC985DB6F6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E338DA8-A100-4DB4-8139-8B46E99F0F0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849A0C5-6115-4384-9EBE-E3340D1E2E6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452DA015-5DD3-4981-A650-66AE8A54C75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63AE3D6-B9CD-4C36-820D-4F450CBE70A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080BDBEA-6AD9-4E81-AFC2-C636668867A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315B408-5965-482E-8424-1EB16C6C918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" name="Rectangle 9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to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edit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Maste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r title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7F272EE-79BE-48FE-B6A1-E2AFE2B19B21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75000"/>
              </a:srgbClr>
            </a:solidFill>
            <a:round/>
          </a:ln>
        </p:spPr>
      </p:cxn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to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edit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Maste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r title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54FF173-9871-4D54-937E-AE6C9CBB873B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72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ctr" vert="eaVer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i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k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o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d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i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a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r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i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y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l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60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31E959E0-8A4C-49B5-BDC3-5B0C0DC92E95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0" name="Straight Connector 6"/>
          <p:cNvCxnSpPr/>
          <p:nvPr/>
        </p:nvCxnSpPr>
        <p:spPr>
          <a:xfrm>
            <a:off x="9601200" y="516240"/>
            <a:ext cx="914760" cy="3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k to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edit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Mas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ter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title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styl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69A061A-1E1E-496B-811E-F8F59BEA5619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4" name="Rectangle 8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k to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edit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Mas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ter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titl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 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styl</a:t>
            </a: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B0F254D2-A9FC-4098-86D3-1AFE62F922AD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1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75000"/>
              </a:srgbClr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k to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edit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Mas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ter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title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styl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6C8B8BB-14A5-4899-8F49-C83904007B91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k to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edit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Mas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ter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title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styl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B37E860-A837-4147-BB4E-D397F1BDE301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</a:t>
            </a: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2971BD7-CAD9-40CA-B771-A922BA7A3195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4" name="PlaceHolder 1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9630C13-99A9-48A0-A1B5-8ADBBC871270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76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920" cy="518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760" cy="376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5C2D04E-813A-4251-841C-644BF6795044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8520" cy="4571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457200" rIns="45720" tIns="36576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45C7378-B166-476B-88BD-9DC281CE9745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3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svg"/><Relationship Id="rId9" Type="http://schemas.openxmlformats.org/officeDocument/2006/relationships/image" Target="../media/image18.jpe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25.png"/><Relationship Id="rId6" Type="http://schemas.openxmlformats.org/officeDocument/2006/relationships/image" Target="../media/image26.svg"/><Relationship Id="rId7" Type="http://schemas.openxmlformats.org/officeDocument/2006/relationships/image" Target="../media/image27.png"/><Relationship Id="rId8" Type="http://schemas.openxmlformats.org/officeDocument/2006/relationships/image" Target="../media/image2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/>
          <p:cNvSpPr/>
          <p:nvPr/>
        </p:nvSpPr>
        <p:spPr>
          <a:xfrm>
            <a:off x="0" y="0"/>
            <a:ext cx="3793320" cy="1074600"/>
          </a:xfrm>
          <a:custGeom>
            <a:avLst/>
            <a:gdLst>
              <a:gd name="textAreaLeft" fmla="*/ 0 w 3793320"/>
              <a:gd name="textAreaRight" fmla="*/ 3793680 w 3793320"/>
              <a:gd name="textAreaTop" fmla="*/ 0 h 1074600"/>
              <a:gd name="textAreaBottom" fmla="*/ 1074960 h 1074600"/>
            </a:gdLst>
            <a:ahLst/>
            <a:cxnLst/>
            <a:rect l="textAreaLeft" t="textAreaTop" r="textAreaRight" b="textAreaBottom"/>
            <a:pathLst>
              <a:path w="5690522" h="1612698">
                <a:moveTo>
                  <a:pt x="0" y="0"/>
                </a:moveTo>
                <a:lnTo>
                  <a:pt x="5690522" y="0"/>
                </a:lnTo>
                <a:lnTo>
                  <a:pt x="5690522" y="1612698"/>
                </a:lnTo>
                <a:lnTo>
                  <a:pt x="0" y="16126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3"/>
          <p:cNvSpPr/>
          <p:nvPr/>
        </p:nvSpPr>
        <p:spPr>
          <a:xfrm>
            <a:off x="5487840" y="0"/>
            <a:ext cx="778680" cy="819720"/>
          </a:xfrm>
          <a:custGeom>
            <a:avLst/>
            <a:gdLst>
              <a:gd name="textAreaLeft" fmla="*/ 0 w 778680"/>
              <a:gd name="textAreaRight" fmla="*/ 779040 w 778680"/>
              <a:gd name="textAreaTop" fmla="*/ 0 h 819720"/>
              <a:gd name="textAreaBottom" fmla="*/ 820080 h 819720"/>
            </a:gdLst>
            <a:ahLst/>
            <a:cxnLst/>
            <a:rect l="textAreaLeft" t="textAreaTop" r="textAreaRight" b="textAreaBottom"/>
            <a:pathLst>
              <a:path w="1168671" h="1230180">
                <a:moveTo>
                  <a:pt x="0" y="0"/>
                </a:moveTo>
                <a:lnTo>
                  <a:pt x="1168672" y="0"/>
                </a:lnTo>
                <a:lnTo>
                  <a:pt x="1168672" y="1230180"/>
                </a:lnTo>
                <a:lnTo>
                  <a:pt x="0" y="12301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reeform 4"/>
          <p:cNvSpPr/>
          <p:nvPr/>
        </p:nvSpPr>
        <p:spPr>
          <a:xfrm>
            <a:off x="8174160" y="0"/>
            <a:ext cx="4017600" cy="1042200"/>
          </a:xfrm>
          <a:custGeom>
            <a:avLst/>
            <a:gdLst>
              <a:gd name="textAreaLeft" fmla="*/ 0 w 4017600"/>
              <a:gd name="textAreaRight" fmla="*/ 4017960 w 4017600"/>
              <a:gd name="textAreaTop" fmla="*/ 0 h 1042200"/>
              <a:gd name="textAreaBottom" fmla="*/ 1042560 h 1042200"/>
            </a:gdLst>
            <a:ahLst/>
            <a:cxnLst/>
            <a:rect l="textAreaLeft" t="textAreaTop" r="textAreaRight" b="textAreaBottom"/>
            <a:pathLst>
              <a:path w="6026810" h="1564004">
                <a:moveTo>
                  <a:pt x="0" y="0"/>
                </a:moveTo>
                <a:lnTo>
                  <a:pt x="6026810" y="0"/>
                </a:lnTo>
                <a:lnTo>
                  <a:pt x="6026810" y="1564004"/>
                </a:lnTo>
                <a:lnTo>
                  <a:pt x="0" y="15640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5"/>
          <p:cNvSpPr/>
          <p:nvPr/>
        </p:nvSpPr>
        <p:spPr>
          <a:xfrm>
            <a:off x="2525760" y="1074960"/>
            <a:ext cx="6702840" cy="1127160"/>
          </a:xfrm>
          <a:custGeom>
            <a:avLst/>
            <a:gdLst>
              <a:gd name="textAreaLeft" fmla="*/ 0 w 6702840"/>
              <a:gd name="textAreaRight" fmla="*/ 6703200 w 6702840"/>
              <a:gd name="textAreaTop" fmla="*/ 0 h 1127160"/>
              <a:gd name="textAreaBottom" fmla="*/ 1127520 h 1127160"/>
            </a:gdLst>
            <a:ahLst/>
            <a:cxnLst/>
            <a:rect l="textAreaLeft" t="textAreaTop" r="textAreaRight" b="textAreaBottom"/>
            <a:pathLst>
              <a:path w="10054958" h="1691296">
                <a:moveTo>
                  <a:pt x="0" y="0"/>
                </a:moveTo>
                <a:lnTo>
                  <a:pt x="10054958" y="0"/>
                </a:lnTo>
                <a:lnTo>
                  <a:pt x="10054958" y="1691296"/>
                </a:lnTo>
                <a:lnTo>
                  <a:pt x="0" y="1691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4714200" y="2819880"/>
            <a:ext cx="290556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4156"/>
              </a:lnSpc>
            </a:pPr>
            <a:r>
              <a:rPr b="1" lang="en-US" sz="2970" strike="noStrike" u="none">
                <a:solidFill>
                  <a:srgbClr val="0a0a0a"/>
                </a:solidFill>
                <a:effectLst/>
                <a:uFillTx/>
                <a:latin typeface="Times New Roman Bold"/>
                <a:ea typeface="Times New Roman Bold"/>
              </a:rPr>
              <a:t>Project Name:</a:t>
            </a:r>
            <a:endParaRPr b="0" lang="en-US" sz="2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1986840" y="3357360"/>
            <a:ext cx="89593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640"/>
              </a:lnSpc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New time roman"/>
              </a:rPr>
              <a:t>Interstate Corn Price Concurrency &amp; Transmission Lag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-864360" y="4078800"/>
            <a:ext cx="3389760" cy="5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4575"/>
              </a:lnSpc>
            </a:pPr>
            <a:r>
              <a:rPr b="1" lang="en-US" sz="3270" strike="noStrike" u="none">
                <a:solidFill>
                  <a:srgbClr val="0a0a0a"/>
                </a:solidFill>
                <a:effectLst/>
                <a:uFillTx/>
                <a:latin typeface="Times New Roman Bold"/>
                <a:ea typeface="Times New Roman Bold"/>
              </a:rPr>
              <a:t>Praxis</a:t>
            </a:r>
            <a:endParaRPr b="0" lang="en-US" sz="3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8613360" y="4343400"/>
            <a:ext cx="23594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827"/>
              </a:lnSpc>
            </a:pPr>
            <a:r>
              <a:rPr b="1" lang="en-US" sz="2740" strike="noStrike" u="none">
                <a:solidFill>
                  <a:srgbClr val="0a0a0a"/>
                </a:solidFill>
                <a:effectLst/>
                <a:uFillTx/>
                <a:latin typeface="Times New Roman Bold"/>
                <a:ea typeface="Times New Roman Bold"/>
              </a:rPr>
              <a:t>Mentor name: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-149400" y="4990680"/>
            <a:ext cx="313560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72"/>
              </a:lnSpc>
            </a:pPr>
            <a:r>
              <a:rPr b="0" lang="en-US" sz="2000" spc="128" strike="noStrike" u="none">
                <a:solidFill>
                  <a:srgbClr val="0a0a0a"/>
                </a:solidFill>
                <a:effectLst/>
                <a:uFillTx/>
                <a:latin typeface="Times New Roman"/>
                <a:ea typeface="Times New Roman"/>
              </a:rPr>
              <a:t>Naoroibam Thajaba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8552520" y="5262120"/>
            <a:ext cx="349632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72"/>
              </a:lnSpc>
            </a:pPr>
            <a:r>
              <a:rPr b="0" lang="en-US" sz="2260" strike="noStrike" u="none">
                <a:solidFill>
                  <a:srgbClr val="0a0a0a"/>
                </a:solidFill>
                <a:effectLst/>
                <a:uFillTx/>
                <a:latin typeface="Canva Sans"/>
                <a:ea typeface="Canva Sans"/>
              </a:rPr>
              <a:t>	</a:t>
            </a:r>
            <a:endParaRPr b="0" lang="en-US" sz="2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172800" y="4595040"/>
            <a:ext cx="3868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New time roman"/>
              </a:rPr>
              <a:t>Mayanglangbam Premananda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9144000" y="5315400"/>
            <a:ext cx="280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New time roman"/>
              </a:rPr>
              <a:t>Dr. Usham Sanjota Chanu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172800" y="5435640"/>
            <a:ext cx="2509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New time roman"/>
              </a:rPr>
              <a:t>Asem Anjali Devi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91440" y="955080"/>
            <a:ext cx="4571640" cy="58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0"/>
          <p:cNvSpPr/>
          <p:nvPr/>
        </p:nvSpPr>
        <p:spPr>
          <a:xfrm>
            <a:off x="5327640" y="883800"/>
            <a:ext cx="6296400" cy="17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Why Corn Prices Across States Matter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5233320" y="2810160"/>
            <a:ext cx="3053520" cy="2001600"/>
          </a:xfrm>
          <a:prstGeom prst="roundRect">
            <a:avLst>
              <a:gd name="adj" fmla="val 3966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5428800" y="3005640"/>
            <a:ext cx="26629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Spatial Price Transmission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428800" y="3709440"/>
            <a:ext cx="266292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How quickly price changes propagate across regional markets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8476200" y="2810160"/>
            <a:ext cx="3053520" cy="2001600"/>
          </a:xfrm>
          <a:prstGeom prst="roundRect">
            <a:avLst>
              <a:gd name="adj" fmla="val 3966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8671680" y="3005640"/>
            <a:ext cx="26629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Market Integration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8671680" y="3709440"/>
            <a:ext cx="266292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Evaluates efficiency of agricultural commodity markets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5233320" y="5001120"/>
            <a:ext cx="6296400" cy="1101600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5428800" y="5196600"/>
            <a:ext cx="24487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Policy Relevance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5428800" y="5605200"/>
            <a:ext cx="5905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Actionable insights for farmers, traders &amp; policymakers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4723200" y="-126000"/>
            <a:ext cx="40737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IN" sz="4400" strike="noStrike" u="none">
                <a:solidFill>
                  <a:srgbClr val="2c3834"/>
                </a:solidFill>
                <a:effectLst/>
                <a:uFillTx/>
                <a:latin typeface="Times New Roman"/>
              </a:rPr>
              <a:t>Introduction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Freeform 2"/>
          <p:cNvSpPr/>
          <p:nvPr/>
        </p:nvSpPr>
        <p:spPr>
          <a:xfrm>
            <a:off x="0" y="25560"/>
            <a:ext cx="3067920" cy="817200"/>
          </a:xfrm>
          <a:custGeom>
            <a:avLst/>
            <a:gdLst>
              <a:gd name="textAreaLeft" fmla="*/ 0 w 3067920"/>
              <a:gd name="textAreaRight" fmla="*/ 3068280 w 3067920"/>
              <a:gd name="textAreaTop" fmla="*/ 0 h 817200"/>
              <a:gd name="textAreaBottom" fmla="*/ 817560 h 817200"/>
            </a:gdLst>
            <a:ahLst/>
            <a:cxnLst/>
            <a:rect l="textAreaLeft" t="textAreaTop" r="textAreaRight" b="textAreaBottom"/>
            <a:pathLst>
              <a:path w="5690522" h="1612698">
                <a:moveTo>
                  <a:pt x="0" y="0"/>
                </a:moveTo>
                <a:lnTo>
                  <a:pt x="5690522" y="0"/>
                </a:lnTo>
                <a:lnTo>
                  <a:pt x="5690522" y="1612698"/>
                </a:lnTo>
                <a:lnTo>
                  <a:pt x="0" y="16126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661320" y="519840"/>
            <a:ext cx="45180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27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The Core Problem</a:t>
            </a:r>
            <a:endParaRPr b="0" lang="en-US" sz="2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661320" y="1242000"/>
            <a:ext cx="6943320" cy="49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"/>
          <p:cNvSpPr/>
          <p:nvPr/>
        </p:nvSpPr>
        <p:spPr>
          <a:xfrm>
            <a:off x="7957080" y="2336760"/>
            <a:ext cx="29520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What We Don't Know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7957080" y="2664360"/>
            <a:ext cx="35787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23560" indent="-223560" defTabSz="457200">
              <a:lnSpc>
                <a:spcPct val="117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Unknown transmission lag between Iowa and Ohio corn prices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3560" indent="-223560" defTabSz="457200">
              <a:lnSpc>
                <a:spcPct val="117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Limited understanding of interstate market integration dynamics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7957080" y="3601800"/>
            <a:ext cx="23814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Why It Matters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7957080" y="3929400"/>
            <a:ext cx="3578760" cy="12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23560" indent="-223560" defTabSz="457200">
              <a:lnSpc>
                <a:spcPct val="117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Evaluates market efficiency and price discovery speed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3560" indent="-223560" defTabSz="457200">
              <a:lnSpc>
                <a:spcPct val="117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Supports evidence-based agricultural decision-making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3560" indent="-223560" defTabSz="457200">
              <a:lnSpc>
                <a:spcPct val="117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Reusable framework for commodity market analysis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661320" y="866160"/>
            <a:ext cx="605052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333f70"/>
                </a:solidFill>
                <a:effectLst/>
                <a:uFillTx/>
                <a:latin typeface="Unbounded Bold"/>
              </a:rPr>
              <a:t>Scope Of Project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320" y="1834920"/>
            <a:ext cx="5339520" cy="19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3218040" y="1976760"/>
            <a:ext cx="226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ffffff"/>
                </a:solidFill>
                <a:effectLst/>
                <a:uFillTx/>
                <a:latin typeface="Unbounded Bold"/>
                <a:ea typeface="Unbounded Bold"/>
              </a:rPr>
              <a:t>1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875880" y="2590920"/>
            <a:ext cx="24390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Detect Direction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875880" y="2999520"/>
            <a:ext cx="491076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Determine whether Iowa corn price movements influence Ohio prices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90200" y="1834920"/>
            <a:ext cx="5339520" cy="19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4"/>
          <p:cNvSpPr/>
          <p:nvPr/>
        </p:nvSpPr>
        <p:spPr>
          <a:xfrm>
            <a:off x="8746920" y="1976760"/>
            <a:ext cx="226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ffffff"/>
                </a:solidFill>
                <a:effectLst/>
                <a:uFillTx/>
                <a:latin typeface="Unbounded Bold"/>
                <a:ea typeface="Unbounded Bold"/>
              </a:rPr>
              <a:t>2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404760" y="2590920"/>
            <a:ext cx="236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Estimate Lag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6404760" y="2999520"/>
            <a:ext cx="491076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Quantify transmission lag using Time-Lagged Cross-Correlation (TLCC)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1320" y="4007880"/>
            <a:ext cx="5339520" cy="19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7"/>
          <p:cNvSpPr/>
          <p:nvPr/>
        </p:nvSpPr>
        <p:spPr>
          <a:xfrm>
            <a:off x="3218040" y="4149720"/>
            <a:ext cx="226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ffffff"/>
                </a:solidFill>
                <a:effectLst/>
                <a:uFillTx/>
                <a:latin typeface="Unbounded Bold"/>
                <a:ea typeface="Unbounded Bold"/>
              </a:rPr>
              <a:t>3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875880" y="4763880"/>
            <a:ext cx="28850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Validate Rigorously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875880" y="5172480"/>
            <a:ext cx="491076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Granger Causality, Engle-Granger Cointegration, Bootstrap &amp; holdout testing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190200" y="4007880"/>
            <a:ext cx="5339520" cy="19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0"/>
          <p:cNvSpPr/>
          <p:nvPr/>
        </p:nvSpPr>
        <p:spPr>
          <a:xfrm>
            <a:off x="8746920" y="4149720"/>
            <a:ext cx="226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ffffff"/>
                </a:solidFill>
                <a:effectLst/>
                <a:uFillTx/>
                <a:latin typeface="Unbounded Bold"/>
                <a:ea typeface="Unbounded Bold"/>
              </a:rPr>
              <a:t>4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6404760" y="4763880"/>
            <a:ext cx="33375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Ensure Reproducibility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6404760" y="5172480"/>
            <a:ext cx="491076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Full pipeline using real USDA NASS monthly data (2015–2026)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5233320" y="596160"/>
            <a:ext cx="554004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Key Analytical Methods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5233320" y="1148400"/>
            <a:ext cx="6296400" cy="1208520"/>
          </a:xfrm>
          <a:prstGeom prst="roundRect">
            <a:avLst>
              <a:gd name="adj" fmla="val 4597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5371920" y="1287000"/>
            <a:ext cx="396360" cy="396360"/>
          </a:xfrm>
          <a:prstGeom prst="ellipse">
            <a:avLst/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1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81000" y="1396440"/>
            <a:ext cx="178200" cy="1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3"/>
          <p:cNvSpPr/>
          <p:nvPr/>
        </p:nvSpPr>
        <p:spPr>
          <a:xfrm>
            <a:off x="5371920" y="1776600"/>
            <a:ext cx="16534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TLCC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5371920" y="2038680"/>
            <a:ext cx="601920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13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Time-Lagged Cross-Correlation for lag estimation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5233320" y="2450160"/>
            <a:ext cx="6296400" cy="1208520"/>
          </a:xfrm>
          <a:prstGeom prst="roundRect">
            <a:avLst>
              <a:gd name="adj" fmla="val 4597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5371920" y="2588760"/>
            <a:ext cx="396360" cy="396360"/>
          </a:xfrm>
          <a:prstGeom prst="ellipse">
            <a:avLst/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81000" y="2697840"/>
            <a:ext cx="178200" cy="1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7"/>
          <p:cNvSpPr/>
          <p:nvPr/>
        </p:nvSpPr>
        <p:spPr>
          <a:xfrm>
            <a:off x="5371920" y="3078000"/>
            <a:ext cx="19080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Granger Causality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5371920" y="3340440"/>
            <a:ext cx="601920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13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Tests if Iowa prices predict Ohio prices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9"/>
          <p:cNvSpPr/>
          <p:nvPr/>
        </p:nvSpPr>
        <p:spPr>
          <a:xfrm>
            <a:off x="5233320" y="3751560"/>
            <a:ext cx="6296400" cy="1208520"/>
          </a:xfrm>
          <a:prstGeom prst="roundRect">
            <a:avLst>
              <a:gd name="adj" fmla="val 4597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5371920" y="3890160"/>
            <a:ext cx="396360" cy="396360"/>
          </a:xfrm>
          <a:prstGeom prst="ellipse">
            <a:avLst/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481000" y="3999240"/>
            <a:ext cx="178200" cy="1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1"/>
          <p:cNvSpPr/>
          <p:nvPr/>
        </p:nvSpPr>
        <p:spPr>
          <a:xfrm>
            <a:off x="5371920" y="4379400"/>
            <a:ext cx="16534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Engle-Granger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5371920" y="4641840"/>
            <a:ext cx="601920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13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Cointegration for long-run market relationship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3"/>
          <p:cNvSpPr/>
          <p:nvPr/>
        </p:nvSpPr>
        <p:spPr>
          <a:xfrm>
            <a:off x="5233320" y="5052960"/>
            <a:ext cx="6296400" cy="1208520"/>
          </a:xfrm>
          <a:prstGeom prst="roundRect">
            <a:avLst>
              <a:gd name="adj" fmla="val 4597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5371920" y="5191560"/>
            <a:ext cx="396360" cy="396360"/>
          </a:xfrm>
          <a:prstGeom prst="ellipse">
            <a:avLst/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4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481000" y="5300640"/>
            <a:ext cx="178200" cy="1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5"/>
          <p:cNvSpPr/>
          <p:nvPr/>
        </p:nvSpPr>
        <p:spPr>
          <a:xfrm>
            <a:off x="5371920" y="5680800"/>
            <a:ext cx="16534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Bootstrap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5371920" y="5943240"/>
            <a:ext cx="601920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13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Confidence intervals for robust validation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preencoded.png"/>
          <p:cNvPicPr/>
          <p:nvPr/>
        </p:nvPicPr>
        <p:blipFill>
          <a:blip r:embed="rId9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661320" y="1764000"/>
            <a:ext cx="65646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Scope &amp; Limitations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661320" y="2827080"/>
            <a:ext cx="33354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✅</a:t>
            </a: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 What's Covered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661320" y="3317760"/>
            <a:ext cx="520344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USDA NASS monthly corn prices, 2015–2026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Iowa–Ohio interstate comparison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TLCC, Granger, Cointegration, Bootstrap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Holdout validation &amp; lag analysis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6332760" y="2827080"/>
            <a:ext cx="37630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⚠️</a:t>
            </a: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 Known Limitations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6332760" y="3317760"/>
            <a:ext cx="5203440" cy="171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Monthly resolution limits daily/weekly lag detection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Single commodity–state pair; broader validation pending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Cointegration sensitivity to analysis period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457200">
              <a:lnSpc>
                <a:spcPct val="1330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No rolling robustness across multiple state pairs yet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Implementation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48640" y="8960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Module architecture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676800" y="17373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2f8f7"/>
          </a:solidFill>
          <a:ln w="12700">
            <a:solidFill>
              <a:srgbClr val="028090"/>
            </a:solidFill>
            <a:round/>
          </a:ln>
          <a:effectLst>
            <a:outerShdw algn="bl" blurRad="7632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813960" y="1865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ourier New"/>
                <a:ea typeface="Courier New"/>
              </a:rPr>
              <a:t>fetch.py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813960" y="21945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NASS API client, multi-state, cached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3163680" y="217188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3465720" y="17373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2f8f7"/>
          </a:solidFill>
          <a:ln w="12700">
            <a:solidFill>
              <a:srgbClr val="028090"/>
            </a:solidFill>
            <a:round/>
          </a:ln>
          <a:effectLst>
            <a:outerShdw algn="bl" blurRad="7632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3602880" y="1865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ourier New"/>
                <a:ea typeface="Courier New"/>
              </a:rPr>
              <a:t>clean.py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3602880" y="21945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Raw CSVs to aligned monthly panel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5952600" y="217188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6254640" y="17373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2f8f7"/>
          </a:solidFill>
          <a:ln w="12700">
            <a:solidFill>
              <a:srgbClr val="028090"/>
            </a:solidFill>
            <a:round/>
          </a:ln>
          <a:effectLst>
            <a:outerShdw algn="bl" blurRad="7632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6391800" y="1865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ourier New"/>
                <a:ea typeface="Courier New"/>
              </a:rPr>
              <a:t>analysis.py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6391800" y="21945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TLCC, Granger, cointegration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>
            <a:off x="8741520" y="217188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9043560" y="17373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2f8f7"/>
          </a:solidFill>
          <a:ln w="12700">
            <a:solidFill>
              <a:srgbClr val="028090"/>
            </a:solidFill>
            <a:round/>
          </a:ln>
          <a:effectLst>
            <a:outerShdw algn="bl" blurRad="7632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9180720" y="1865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ourier New"/>
                <a:ea typeface="Courier New"/>
              </a:rPr>
              <a:t>validation.py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9180720" y="21945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Train/holdout backtest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4722840" y="3337560"/>
            <a:ext cx="274284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5f6b6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4722840" y="333756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f6b6d"/>
                </a:solidFill>
                <a:effectLst/>
                <a:uFillTx/>
                <a:latin typeface="Courier New"/>
                <a:ea typeface="Courier New"/>
              </a:rPr>
              <a:t>config.py  —  env vars, shared paths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9"/>
          <p:cNvSpPr/>
          <p:nvPr/>
        </p:nvSpPr>
        <p:spPr>
          <a:xfrm>
            <a:off x="676800" y="4480560"/>
            <a:ext cx="10835280" cy="86832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905400" y="4599360"/>
            <a:ext cx="10378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28090"/>
                </a:solidFill>
                <a:effectLst/>
                <a:uFillTx/>
                <a:latin typeface="Courier New"/>
                <a:ea typeface="Courier New"/>
              </a:rPr>
              <a:t>pipeline.py</a:t>
            </a:r>
            <a:r>
              <a:rPr b="0" lang="en-US" sz="125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  orchestrates all four stages end-to-end for an arbitrary commodity/state pair.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905400" y="4937760"/>
            <a:ext cx="1037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Each module is independently runnable and testable via its own CLI.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Implementation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48640" y="868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Setup and usage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548640" y="14173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Setup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548640" y="17830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0f1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777240" y="1947600"/>
            <a:ext cx="493740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python -m venv venv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source venv/bin/activate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pip install -r requirements.txt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echo "USDA_NASS_APIKEY=your_key_here" &gt; .env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548640" y="329184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Free NASS API key: quickstats.nass.usda.gov/api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6263640" y="141732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Usage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6263640" y="1783080"/>
            <a:ext cx="5394600" cy="2880000"/>
          </a:xfrm>
          <a:prstGeom prst="roundRect">
            <a:avLst>
              <a:gd name="adj" fmla="val 2540"/>
            </a:avLst>
          </a:prstGeom>
          <a:solidFill>
            <a:srgbClr val="0f1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6492240" y="1947600"/>
            <a:ext cx="4937400" cy="25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cd src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fa69c"/>
                </a:solidFill>
                <a:effectLst/>
                <a:uFillTx/>
                <a:latin typeface="Courier New"/>
                <a:ea typeface="Courier New"/>
              </a:rPr>
              <a:t># check availability first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python fetch.py --scan --commodity CORN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  --states IOWA,OHIO,ILLINOIS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fa69c"/>
                </a:solidFill>
                <a:effectLst/>
                <a:uFillTx/>
                <a:latin typeface="Courier New"/>
                <a:ea typeface="Courier New"/>
              </a:rPr>
              <a:t># full pipeline: fetch -&gt; clean -&gt; analysis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fa69c"/>
                </a:solidFill>
                <a:effectLst/>
                <a:uFillTx/>
                <a:latin typeface="Courier New"/>
                <a:ea typeface="Courier New"/>
              </a:rPr>
              <a:t>#  -&gt; validation, in one command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python pipeline.py --commodity CORN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  --hub IOWA --local OHIO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  --year-start 2015 --year-end 2026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7ece8"/>
                </a:solidFill>
                <a:effectLst/>
                <a:uFillTx/>
                <a:latin typeface="Courier New"/>
                <a:ea typeface="Courier New"/>
              </a:rPr>
              <a:t>  --holdout-start 2024-01-01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548640" y="3749040"/>
            <a:ext cx="539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Rerun without hitting the API again: add --skip-fetch to reuse cached data.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Implementation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48640" y="868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Demonstration of functionality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470880" y="1554480"/>
            <a:ext cx="3565800" cy="1188360"/>
          </a:xfrm>
          <a:prstGeom prst="roundRect">
            <a:avLst>
              <a:gd name="adj" fmla="val 6154"/>
            </a:avLst>
          </a:prstGeom>
          <a:solidFill>
            <a:srgbClr val="e3f5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653760" y="17006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End-to-end pipeline run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653760" y="20574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6e56"/>
                </a:solidFill>
                <a:effectLst/>
                <a:uFillTx/>
                <a:latin typeface="Calibri"/>
                <a:ea typeface="Calibri"/>
              </a:rPr>
              <a:t>Confirmed working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4311360" y="1554480"/>
            <a:ext cx="3565800" cy="1188360"/>
          </a:xfrm>
          <a:prstGeom prst="roundRect">
            <a:avLst>
              <a:gd name="adj" fmla="val 6154"/>
            </a:avLst>
          </a:prstGeom>
          <a:solidFill>
            <a:srgbClr val="e3f5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4494240" y="17006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Rerun with --skip-fetch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4494240" y="20574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6e56"/>
                </a:solidFill>
                <a:effectLst/>
                <a:uFillTx/>
                <a:latin typeface="Calibri"/>
                <a:ea typeface="Calibri"/>
              </a:rPr>
              <a:t>Confirmed working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8151840" y="1554480"/>
            <a:ext cx="3565800" cy="1188360"/>
          </a:xfrm>
          <a:prstGeom prst="roundRect">
            <a:avLst>
              <a:gd name="adj" fmla="val 6154"/>
            </a:avLst>
          </a:prstGeom>
          <a:solidFill>
            <a:srgbClr val="e3f5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8334720" y="17006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Output consistency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8334720" y="20574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6e56"/>
                </a:solidFill>
                <a:effectLst/>
                <a:uFillTx/>
                <a:latin typeface="Calibri"/>
                <a:ea typeface="Calibri"/>
              </a:rPr>
              <a:t>Bit-identical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1"/>
          <p:cNvSpPr/>
          <p:nvPr/>
        </p:nvSpPr>
        <p:spPr>
          <a:xfrm>
            <a:off x="470880" y="3200400"/>
            <a:ext cx="11246760" cy="173700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745200" y="338328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What a live run demonstrates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745200" y="37306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457200">
              <a:lnSpc>
                <a:spcPct val="115000"/>
              </a:lnSpc>
              <a:spcAft>
                <a:spcPts val="400"/>
              </a:spcAft>
              <a:buClr>
                <a:srgbClr val="1e2a2e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fetch.py pulls Iowa and Ohio corn price series from the NASS API and caches raw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400"/>
              </a:spcAft>
              <a:buClr>
                <a:srgbClr val="1e2a2e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clean.py aligns both series into one monthly panel and computes returns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400"/>
              </a:spcAft>
              <a:buClr>
                <a:srgbClr val="1e2a2e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analysis.py runs TLCC, Granger causality, and cointegration on the full panel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400"/>
              </a:spcAft>
              <a:buClr>
                <a:srgbClr val="1e2a2e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validation.py reruns the same analysis on the training slice and compares against the full period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88880" y="196920"/>
            <a:ext cx="61398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29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Methodology &amp; Pipeline</a:t>
            </a:r>
            <a:endParaRPr b="0" lang="en-US" sz="2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661320" y="6013440"/>
            <a:ext cx="114778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15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214" name="Picture 19" descr=""/>
          <p:cNvPicPr/>
          <p:nvPr/>
        </p:nvPicPr>
        <p:blipFill>
          <a:blip r:embed="rId1"/>
          <a:stretch/>
        </p:blipFill>
        <p:spPr>
          <a:xfrm>
            <a:off x="-203040" y="298440"/>
            <a:ext cx="6410520" cy="789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21" descr=""/>
          <p:cNvPicPr/>
          <p:nvPr/>
        </p:nvPicPr>
        <p:blipFill>
          <a:blip r:embed="rId2"/>
          <a:stretch/>
        </p:blipFill>
        <p:spPr>
          <a:xfrm>
            <a:off x="4960800" y="950040"/>
            <a:ext cx="6827760" cy="436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61320" y="1033200"/>
            <a:ext cx="65314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Econometric Toolkit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320" y="200196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"/>
          <p:cNvSpPr/>
          <p:nvPr/>
        </p:nvSpPr>
        <p:spPr>
          <a:xfrm>
            <a:off x="661320" y="2710800"/>
            <a:ext cx="46670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Time-Lagged Cross-Correlation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661320" y="3119400"/>
            <a:ext cx="531576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Identifies lag </a:t>
            </a:r>
            <a:r>
              <a:rPr b="0" i="1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k</a:t>
            </a: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 maximizing price correlation between markets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213960" y="200196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3"/>
          <p:cNvSpPr/>
          <p:nvPr/>
        </p:nvSpPr>
        <p:spPr>
          <a:xfrm>
            <a:off x="6213960" y="2710800"/>
            <a:ext cx="27262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Granger Causality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6213960" y="3119400"/>
            <a:ext cx="53161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Tests whether Iowa prices statistically predict Ohio prices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1320" y="410220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5"/>
          <p:cNvSpPr/>
          <p:nvPr/>
        </p:nvSpPr>
        <p:spPr>
          <a:xfrm>
            <a:off x="661320" y="4811040"/>
            <a:ext cx="42642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Engle-Granger Cointegration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661320" y="5219640"/>
            <a:ext cx="531576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Confirms long-run equilibrium relationship between price series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213960" y="410220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7"/>
          <p:cNvSpPr/>
          <p:nvPr/>
        </p:nvSpPr>
        <p:spPr>
          <a:xfrm>
            <a:off x="6213960" y="4811040"/>
            <a:ext cx="47077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Bootstrap Confidence Intervals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6213960" y="5219640"/>
            <a:ext cx="53161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33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Robust inference without strict distributional assumptions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Results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48640" y="8960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Iowa vs Ohio corn prices, 2015-2026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548640" y="1554480"/>
            <a:ext cx="2605680" cy="137124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713160" y="1682640"/>
            <a:ext cx="2276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Peak correlation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713160" y="1993320"/>
            <a:ext cx="2276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0.840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713160" y="254196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at lag k* = 0 months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3383280" y="1554480"/>
            <a:ext cx="2605680" cy="137124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3547800" y="1682640"/>
            <a:ext cx="2276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Granger, Iowa to Ohio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3547800" y="1993320"/>
            <a:ext cx="2276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f6e56"/>
                </a:solidFill>
                <a:effectLst/>
                <a:uFillTx/>
                <a:latin typeface="Calibri"/>
                <a:ea typeface="Calibri"/>
              </a:rPr>
              <a:t>Significant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3547800" y="254196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lags 1 through 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6217920" y="1554480"/>
            <a:ext cx="2605680" cy="137124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1"/>
          <p:cNvSpPr/>
          <p:nvPr/>
        </p:nvSpPr>
        <p:spPr>
          <a:xfrm>
            <a:off x="6382440" y="1682640"/>
            <a:ext cx="2276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Cointegration, full period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6382440" y="1993320"/>
            <a:ext cx="2276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Not detected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6382440" y="254196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p = 0.1545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4"/>
          <p:cNvSpPr/>
          <p:nvPr/>
        </p:nvSpPr>
        <p:spPr>
          <a:xfrm>
            <a:off x="9052560" y="1554480"/>
            <a:ext cx="2605680" cy="137124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9217080" y="1682640"/>
            <a:ext cx="2276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Rolling cointegration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9217080" y="1993320"/>
            <a:ext cx="2276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20 / 78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9217080" y="254196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windows significant at 5%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548640" y="32461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Test outcomes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9"/>
          <p:cNvSpPr/>
          <p:nvPr/>
        </p:nvSpPr>
        <p:spPr>
          <a:xfrm>
            <a:off x="548640" y="3657600"/>
            <a:ext cx="420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Stationarity (returns)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0"/>
          <p:cNvSpPr/>
          <p:nvPr/>
        </p:nvSpPr>
        <p:spPr>
          <a:xfrm>
            <a:off x="4846320" y="3712320"/>
            <a:ext cx="2194200" cy="292320"/>
          </a:xfrm>
          <a:prstGeom prst="roundRect">
            <a:avLst>
              <a:gd name="adj" fmla="val 50000"/>
            </a:avLst>
          </a:prstGeom>
          <a:solidFill>
            <a:srgbClr val="e3f5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4846320" y="371232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f6e56"/>
                </a:solidFill>
                <a:effectLst/>
                <a:uFillTx/>
                <a:latin typeface="Calibri"/>
                <a:ea typeface="Calibri"/>
              </a:rPr>
              <a:t>confirmed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548640" y="4041720"/>
            <a:ext cx="420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Detectable lag (TLCC)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4846320" y="4096440"/>
            <a:ext cx="2194200" cy="292320"/>
          </a:xfrm>
          <a:prstGeom prst="roundRect">
            <a:avLst>
              <a:gd name="adj" fmla="val 50000"/>
            </a:avLst>
          </a:prstGeom>
          <a:solidFill>
            <a:srgbClr val="fcf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4"/>
          <p:cNvSpPr/>
          <p:nvPr/>
        </p:nvSpPr>
        <p:spPr>
          <a:xfrm>
            <a:off x="4846320" y="409644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a5a00"/>
                </a:solidFill>
                <a:effectLst/>
                <a:uFillTx/>
                <a:latin typeface="Calibri"/>
                <a:ea typeface="Calibri"/>
              </a:rPr>
              <a:t>none at monthly resolution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5"/>
          <p:cNvSpPr/>
          <p:nvPr/>
        </p:nvSpPr>
        <p:spPr>
          <a:xfrm>
            <a:off x="548640" y="4425840"/>
            <a:ext cx="420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Directional causality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6"/>
          <p:cNvSpPr/>
          <p:nvPr/>
        </p:nvSpPr>
        <p:spPr>
          <a:xfrm>
            <a:off x="4846320" y="4480560"/>
            <a:ext cx="2194200" cy="292320"/>
          </a:xfrm>
          <a:prstGeom prst="roundRect">
            <a:avLst>
              <a:gd name="adj" fmla="val 50000"/>
            </a:avLst>
          </a:prstGeom>
          <a:solidFill>
            <a:srgbClr val="e3f5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7"/>
          <p:cNvSpPr/>
          <p:nvPr/>
        </p:nvSpPr>
        <p:spPr>
          <a:xfrm>
            <a:off x="4846320" y="448056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f6e56"/>
                </a:solidFill>
                <a:effectLst/>
                <a:uFillTx/>
                <a:latin typeface="Calibri"/>
                <a:ea typeface="Calibri"/>
              </a:rPr>
              <a:t>Iowa leads Ohio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8"/>
          <p:cNvSpPr/>
          <p:nvPr/>
        </p:nvSpPr>
        <p:spPr>
          <a:xfrm>
            <a:off x="548640" y="4809600"/>
            <a:ext cx="420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Structural break (spread)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9"/>
          <p:cNvSpPr/>
          <p:nvPr/>
        </p:nvSpPr>
        <p:spPr>
          <a:xfrm>
            <a:off x="4846320" y="4864680"/>
            <a:ext cx="2194200" cy="292320"/>
          </a:xfrm>
          <a:prstGeom prst="roundRect">
            <a:avLst>
              <a:gd name="adj" fmla="val 50000"/>
            </a:avLst>
          </a:prstGeom>
          <a:solidFill>
            <a:srgbClr val="fcf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0"/>
          <p:cNvSpPr/>
          <p:nvPr/>
        </p:nvSpPr>
        <p:spPr>
          <a:xfrm>
            <a:off x="4846320" y="486468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a5a00"/>
                </a:solidFill>
                <a:effectLst/>
                <a:uFillTx/>
                <a:latin typeface="Calibri"/>
                <a:ea typeface="Calibri"/>
              </a:rPr>
              <a:t>not confirmed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1"/>
          <p:cNvSpPr/>
          <p:nvPr/>
        </p:nvSpPr>
        <p:spPr>
          <a:xfrm>
            <a:off x="548640" y="5193720"/>
            <a:ext cx="420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2e"/>
                </a:solidFill>
                <a:effectLst/>
                <a:uFillTx/>
                <a:latin typeface="Calibri"/>
                <a:ea typeface="Calibri"/>
              </a:rPr>
              <a:t>Long-run equilibrium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2"/>
          <p:cNvSpPr/>
          <p:nvPr/>
        </p:nvSpPr>
        <p:spPr>
          <a:xfrm>
            <a:off x="4846320" y="5248800"/>
            <a:ext cx="2194200" cy="2923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3"/>
          <p:cNvSpPr/>
          <p:nvPr/>
        </p:nvSpPr>
        <p:spPr>
          <a:xfrm>
            <a:off x="4846320" y="524880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not robust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4"/>
          <p:cNvSpPr/>
          <p:nvPr/>
        </p:nvSpPr>
        <p:spPr>
          <a:xfrm>
            <a:off x="7406640" y="3246120"/>
            <a:ext cx="4205880" cy="2331360"/>
          </a:xfrm>
          <a:prstGeom prst="roundRect">
            <a:avLst>
              <a:gd name="adj" fmla="val 3137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5"/>
          <p:cNvSpPr/>
          <p:nvPr/>
        </p:nvSpPr>
        <p:spPr>
          <a:xfrm>
            <a:off x="7635240" y="34290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Bottom line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6"/>
          <p:cNvSpPr/>
          <p:nvPr/>
        </p:nvSpPr>
        <p:spPr>
          <a:xfrm>
            <a:off x="7635240" y="3794760"/>
            <a:ext cx="37486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25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Iowa price movements consistently lead Ohio's, holding up in both the training window and the full period. But the two series don't share a stable long-run equilibrium: cointegration appears in some slices of the data and not others.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Results detail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48640" y="868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Stationarity and backtest comparison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"/>
          <p:cNvSpPr/>
          <p:nvPr/>
        </p:nvSpPr>
        <p:spPr>
          <a:xfrm>
            <a:off x="548640" y="14173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3.1  Stationarity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Table 0"/>
          <p:cNvGraphicFramePr/>
          <p:nvPr/>
        </p:nvGraphicFramePr>
        <p:xfrm>
          <a:off x="548640" y="1828800"/>
          <a:ext cx="5486040" cy="17370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371600"/>
              </a:tblGrid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Series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ADF stat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p-value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Stationary @ 5%?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Iowa price (level)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-1.601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0.4829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 (expected)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Ohio price (level)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-1.823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0.3691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 (expected)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Iowa returns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-7.532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0.0000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f6e5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Ohio returns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-8.020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0.0000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f6e5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0" name="Text 3"/>
          <p:cNvSpPr/>
          <p:nvPr/>
        </p:nvSpPr>
        <p:spPr>
          <a:xfrm>
            <a:off x="6492240" y="14173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3.6  Backtest: train vs full period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1" name="Table 1"/>
          <p:cNvGraphicFramePr/>
          <p:nvPr/>
        </p:nvGraphicFramePr>
        <p:xfrm>
          <a:off x="6492240" y="1828800"/>
          <a:ext cx="5120280" cy="208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Metric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Train-only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 period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k* (months)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Peak correlation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0.847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0.840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k* 95% CI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(0.0, 0.0)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(0.0, 0.0)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Min p, Iowa to Ohio Granger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0.0045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0.0089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Cointegration p-value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f6e5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0.0004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a32d2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0.1545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de5e4"/>
                      </a:solidFill>
                      <a:prstDash val="solid"/>
                    </a:lnL>
                    <a:lnR w="6480">
                      <a:solidFill>
                        <a:srgbClr val="dde5e4"/>
                      </a:solidFill>
                      <a:prstDash val="solid"/>
                    </a:lnR>
                    <a:lnT w="6480">
                      <a:solidFill>
                        <a:srgbClr val="dde5e4"/>
                      </a:solidFill>
                      <a:prstDash val="solid"/>
                    </a:lnT>
                    <a:lnB w="6480">
                      <a:solidFill>
                        <a:srgbClr val="dde5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2" name="Shape 4"/>
          <p:cNvSpPr/>
          <p:nvPr/>
        </p:nvSpPr>
        <p:spPr>
          <a:xfrm>
            <a:off x="548640" y="484632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777240" y="498348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e2a2e"/>
                </a:solidFill>
                <a:effectLst/>
                <a:uFillTx/>
                <a:latin typeface="Cambria"/>
                <a:ea typeface="Cambria"/>
              </a:rPr>
              <a:t>Reading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"/>
          <p:cNvSpPr/>
          <p:nvPr/>
        </p:nvSpPr>
        <p:spPr>
          <a:xfrm>
            <a:off x="777240" y="534924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f6b6d"/>
                </a:solidFill>
                <a:effectLst/>
                <a:uFillTx/>
                <a:latin typeface="Calibri"/>
                <a:ea typeface="Calibri"/>
              </a:rPr>
              <a:t>Stationarity, TLCC lag, and the Iowa-to-Ohio Granger asymmetry all came out as expected and held stable across both time windows. Cointegration is the exception: the full-period test and a 60-month rolling test (only 20 of 78 windows significant, hovering near the 5% boundary) both point to a marginal, noisy relationship rather than a stable equilibrium. This is a slice-sensitivity finding, not evidence of a structural break -- the Zivot-Andrews test found none.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661320" y="519840"/>
            <a:ext cx="60325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29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Challenges &amp; Solutions</a:t>
            </a:r>
            <a:endParaRPr b="0" lang="en-US" sz="2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0" descr="preencoded.png"/>
          <p:cNvPicPr/>
          <p:nvPr/>
        </p:nvPicPr>
        <p:blipFill>
          <a:blip r:embed="rId1"/>
          <a:stretch/>
        </p:blipFill>
        <p:spPr>
          <a:xfrm>
            <a:off x="752760" y="1977120"/>
            <a:ext cx="5547960" cy="250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72200" y="1309680"/>
            <a:ext cx="3564000" cy="11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1"/>
          <p:cNvSpPr/>
          <p:nvPr/>
        </p:nvSpPr>
        <p:spPr>
          <a:xfrm>
            <a:off x="8218800" y="1479960"/>
            <a:ext cx="1889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Challenge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8218800" y="1837080"/>
            <a:ext cx="3147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Initial dataset unsuitable; monthly resolution limited lag detection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972200" y="2563560"/>
            <a:ext cx="3564000" cy="11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3"/>
          <p:cNvSpPr/>
          <p:nvPr/>
        </p:nvSpPr>
        <p:spPr>
          <a:xfrm>
            <a:off x="8218800" y="2733840"/>
            <a:ext cx="1889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Solution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8218800" y="3091320"/>
            <a:ext cx="3147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Switched to USDA NASS QuickStats; applied robust preprocessing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72200" y="3817800"/>
            <a:ext cx="3564000" cy="11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5"/>
          <p:cNvSpPr/>
          <p:nvPr/>
        </p:nvSpPr>
        <p:spPr>
          <a:xfrm>
            <a:off x="8218800" y="3988080"/>
            <a:ext cx="1889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Challenge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8218800" y="4345200"/>
            <a:ext cx="3147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Ensuring statistical reliability across methods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972200" y="5071680"/>
            <a:ext cx="3564000" cy="11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7"/>
          <p:cNvSpPr/>
          <p:nvPr/>
        </p:nvSpPr>
        <p:spPr>
          <a:xfrm>
            <a:off x="8218800" y="5241960"/>
            <a:ext cx="1889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Solution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8218800" y="5599080"/>
            <a:ext cx="3147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Multi-method validation + holdout testing confirmed results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0"/>
          <p:cNvSpPr/>
          <p:nvPr/>
        </p:nvSpPr>
        <p:spPr>
          <a:xfrm>
            <a:off x="661320" y="942480"/>
            <a:ext cx="6296400" cy="10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Skills Gained &amp; Key Takeaway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661320" y="2235240"/>
            <a:ext cx="3071520" cy="1492920"/>
          </a:xfrm>
          <a:prstGeom prst="roundRect">
            <a:avLst>
              <a:gd name="adj" fmla="val 4785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837720" y="2411640"/>
            <a:ext cx="271872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Time-Series Analysis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837720" y="3034800"/>
            <a:ext cx="2718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Spatial price transmission, lag estimation, market integration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3886560" y="2235240"/>
            <a:ext cx="3071520" cy="1492920"/>
          </a:xfrm>
          <a:prstGeom prst="roundRect">
            <a:avLst>
              <a:gd name="adj" fmla="val 4785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4062960" y="2411640"/>
            <a:ext cx="271872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Econometric Validation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4062960" y="3034800"/>
            <a:ext cx="2718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Granger, cointegration, bootstrap, reproducible research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661320" y="3881520"/>
            <a:ext cx="6296400" cy="968400"/>
          </a:xfrm>
          <a:prstGeom prst="roundRect">
            <a:avLst>
              <a:gd name="adj" fmla="val 7374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837720" y="4057920"/>
            <a:ext cx="2126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Technical Stack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9"/>
          <p:cNvSpPr/>
          <p:nvPr/>
        </p:nvSpPr>
        <p:spPr>
          <a:xfrm>
            <a:off x="837720" y="4415400"/>
            <a:ext cx="594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Python, USDA NASS API, Pandas, Statsmodels, SciPy, Matplotlib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0"/>
          <p:cNvSpPr/>
          <p:nvPr/>
        </p:nvSpPr>
        <p:spPr>
          <a:xfrm>
            <a:off x="661320" y="5022720"/>
            <a:ext cx="6296400" cy="892440"/>
          </a:xfrm>
          <a:prstGeom prst="roundRect">
            <a:avLst>
              <a:gd name="adj" fmla="val 8002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1" descr="preencoded.png"/>
          <p:cNvPicPr/>
          <p:nvPr/>
        </p:nvPicPr>
        <p:blipFill>
          <a:blip r:embed="rId2"/>
          <a:stretch/>
        </p:blipFill>
        <p:spPr>
          <a:xfrm>
            <a:off x="831600" y="5257800"/>
            <a:ext cx="21240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1"/>
          <p:cNvSpPr/>
          <p:nvPr/>
        </p:nvSpPr>
        <p:spPr>
          <a:xfrm>
            <a:off x="1214280" y="5218200"/>
            <a:ext cx="5573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Key Takeaway:</a:t>
            </a: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 Market relationships must be validated using multiple statistical methods to ensure reliable, reproducible findings.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5233320" y="615240"/>
            <a:ext cx="6296400" cy="10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Future Scope &amp; Conclusion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5233320" y="1908000"/>
            <a:ext cx="6296400" cy="968400"/>
          </a:xfrm>
          <a:prstGeom prst="roundRect">
            <a:avLst>
              <a:gd name="adj" fmla="val 7374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5409720" y="2084400"/>
            <a:ext cx="2126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Expand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5409720" y="2441880"/>
            <a:ext cx="594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Expand INDIAN states &amp; commodities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5233320" y="3030120"/>
            <a:ext cx="6296400" cy="968400"/>
          </a:xfrm>
          <a:prstGeom prst="roundRect">
            <a:avLst>
              <a:gd name="adj" fmla="val 7374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5409720" y="3206520"/>
            <a:ext cx="23457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Higher Resolution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5409720" y="3564000"/>
            <a:ext cx="594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Daily USDA AMS data for finer lag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5233320" y="4151880"/>
            <a:ext cx="6296400" cy="968400"/>
          </a:xfrm>
          <a:prstGeom prst="roundRect">
            <a:avLst>
              <a:gd name="adj" fmla="val 7374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5409720" y="4328280"/>
            <a:ext cx="2126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Automate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5409720" y="4685760"/>
            <a:ext cx="594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Full pipeline + interactive dashboard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5233320" y="5274000"/>
            <a:ext cx="6296400" cy="968400"/>
          </a:xfrm>
          <a:prstGeom prst="roundRect">
            <a:avLst>
              <a:gd name="adj" fmla="val 7374"/>
            </a:avLst>
          </a:prstGeom>
          <a:solidFill>
            <a:srgbClr val="d6f5ee"/>
          </a:solidFill>
          <a:ln w="635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5409720" y="5450400"/>
            <a:ext cx="2126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04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Key Finding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5409720" y="5807880"/>
            <a:ext cx="594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457200">
              <a:lnSpc>
                <a:spcPct val="127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Strong same-month synchronization (k = 0) between the state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16" descr=""/>
          <p:cNvPicPr/>
          <p:nvPr/>
        </p:nvPicPr>
        <p:blipFill>
          <a:blip r:embed="rId1"/>
          <a:stretch/>
        </p:blipFill>
        <p:spPr>
          <a:xfrm>
            <a:off x="87120" y="451800"/>
            <a:ext cx="4978080" cy="587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1315</TotalTime>
  <Application>LibreOffice/25.2.3.2$Linux_X86_64 LibreOffice_project/520$Build-2</Application>
  <AppVersion>15.0000</AppVersion>
  <Words>1055</Words>
  <Paragraphs>228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2026-07-03T14:51:19Z</dcterms:created>
  <dc:creator>user</dc:creator>
  <dc:description/>
  <dc:language>en-US</dc:language>
  <cp:lastModifiedBy/>
  <dcterms:modified xsi:type="dcterms:W3CDTF">2026-07-07T12:02:37Z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16</vt:i4>
  </property>
</Properties>
</file>